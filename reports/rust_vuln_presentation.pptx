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Clippy</c:v>
                </c:pt>
                <c:pt idx="1">
                  <c:v>Heuristic</c:v>
                </c:pt>
                <c:pt idx="2">
                  <c:v>CodeBERT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Clippy</c:v>
                </c:pt>
                <c:pt idx="1">
                  <c:v>Heuristic</c:v>
                </c:pt>
                <c:pt idx="2">
                  <c:v>CodeBERT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0.2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E05C1A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Clippy</c:v>
                </c:pt>
                <c:pt idx="1">
                  <c:v>Heuristic</c:v>
                </c:pt>
                <c:pt idx="2">
                  <c:v>CodeBERT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0.667</c:v>
                </c:pt>
                <c:pt idx="1">
                  <c:v>0.286</c:v>
                </c:pt>
                <c:pt idx="2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300" b="1" i="0" u="none" strike="noStrike" kern="1200" baseline="0">
                <a:solidFill>
                  <a:srgbClr val="1A2535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17c9304b-748f-49fb-a940-d36051926205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Clippy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Accuracy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1</c:v>
                </c:pt>
                <c:pt idx="2">
                  <c:v>0.6667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Heuristic</c:v>
                </c:pt>
              </c:strCache>
            </c:strRef>
          </c:tx>
          <c:spPr>
            <a:solidFill>
              <a:srgbClr val="F0A500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Accuracy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0.2328</c:v>
                </c:pt>
                <c:pt idx="2">
                  <c:v>0.3177</c:v>
                </c:pt>
                <c:pt idx="3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CodeBERT</c:v>
                </c:pt>
              </c:strCache>
            </c:strRef>
          </c:tx>
          <c:spPr>
            <a:solidFill>
              <a:srgbClr val="E05C1A"/>
            </a:solidFill>
            <a:effectLst/>
          </c:spPr>
          <c:invertIfNegative val="0"/>
          <c:dLbls>
            <c:delete val="1"/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Accuracy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1" i="0" u="none" strike="noStrike" kern="1200" baseline="0">
                <a:solidFill>
                  <a:srgbClr val="1A2535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1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68bea64c-046a-4d53-a6f7-36782c06352e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457200"/>
            <a:ext cx="5029200" cy="54864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0"/>
            <a:ext cx="7132320" cy="1645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Vulnerabilities in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Rust Programs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331720"/>
            <a:ext cx="7132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en-US" sz="2000" dirty="0">
                <a:solidFill>
                  <a:schemeClr val="bg1"/>
                </a:solidFill>
              </a:rPr>
              <a:t>A Comparative Evaluation of Static Analysis and</a:t>
            </a:r>
            <a:endParaRPr lang="en-US" alt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chemeClr val="bg1"/>
                </a:solidFill>
              </a:rPr>
              <a:t>ML-Based Tools for Rust Vulnerability Detection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3337560"/>
            <a:ext cx="1783080" cy="384048"/>
          </a:xfrm>
          <a:prstGeom prst="roundRect">
            <a:avLst>
              <a:gd name="adj" fmla="val 1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33756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  Static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3337560"/>
            <a:ext cx="1783080" cy="384048"/>
          </a:xfrm>
          <a:prstGeom prst="roundRect">
            <a:avLst>
              <a:gd name="adj" fmla="val 16667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333756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3337560"/>
            <a:ext cx="1783080" cy="384048"/>
          </a:xfrm>
          <a:prstGeom prst="roundRect">
            <a:avLst>
              <a:gd name="adj" fmla="val 16667"/>
            </a:avLst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333756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 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 Kumar Yadav (J01280187)</a:t>
            </a:r>
            <a:endParaRPr lang="en-US" sz="2000" dirty="0">
              <a:solidFill>
                <a:srgbClr val="8FA3B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89520" y="457200"/>
            <a:ext cx="141732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35240" y="594360"/>
            <a:ext cx="132588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fn safe_fn()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let x = &amp;data;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unsafe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05C1A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  *ptr = 0;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  check(x)?;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8FA3B1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7A58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#[deny(unsafe)]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7A589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mod audit;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228600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11480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05156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4300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21792" y="15087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76479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Rust? Why vulnerability detection?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11480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86000"/>
            <a:ext cx="73152" cy="105156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37744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" y="2743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299923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trying to answer?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11480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73152" cy="105156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61188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" y="39776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Approaches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423367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 · Heuristic · CodeBERT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51560"/>
            <a:ext cx="411480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051560"/>
            <a:ext cx="73152" cy="105156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14300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10912" y="150876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176479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1,074 labeled Rust 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286000"/>
            <a:ext cx="73152" cy="105156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237744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10912" y="27432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10912" y="299923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Accuracy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520440"/>
            <a:ext cx="4114800" cy="105156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520440"/>
            <a:ext cx="73152" cy="105156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361188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10912" y="397764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10912" y="4233672"/>
            <a:ext cx="3840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future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82880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3840480" cy="3566160"/>
          </a:xfrm>
          <a:prstGeom prst="rect">
            <a:avLst/>
          </a:prstGeom>
          <a:solidFill>
            <a:srgbClr val="E8F4FB"/>
          </a:solidFill>
          <a:ln w="12700">
            <a:solidFill>
              <a:srgbClr val="B0C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78992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Rust?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56616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system prevents use-after-free at compile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abstractions with memory safety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systems language (Stack Overflow 2024)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in Linux kernel, Windows, Android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960120"/>
            <a:ext cx="4297680" cy="3566160"/>
          </a:xfrm>
          <a:prstGeom prst="rect">
            <a:avLst/>
          </a:prstGeom>
          <a:solidFill>
            <a:srgbClr val="FDF2EC"/>
          </a:solidFill>
          <a:ln w="12700">
            <a:solidFill>
              <a:srgbClr val="E8B8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078992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Vulnerabilities Still Exist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57276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anose="02070409020205090404" pitchFamily="34" charset="0"/>
                <a:ea typeface="Courier New" panose="02070409020205090404" pitchFamily="34" charset="-122"/>
                <a:cs typeface="Courier New" panose="02070409020205090404" pitchFamily="34" charset="-120"/>
              </a:rPr>
              <a:t>unsafe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1965960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bypass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checker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20840" y="150876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57276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1965960"/>
            <a:ext cx="18288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RustSec 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2788920"/>
            <a:ext cx="402336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races in concurrent programs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overflow in unchecked arithmetic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Use-after-free via unsafe raw pointers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617720"/>
            <a:ext cx="8366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636008"/>
            <a:ext cx="81381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vulnerability detection is essential before real-world Rust code ships to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228600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82296" cy="11704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09728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Effectiveness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444752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effective is Clippy at detecting known vulnerabilities in Rust source files, and what is its false positive rate?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841248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31720"/>
            <a:ext cx="82296" cy="1170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5176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51760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42316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Pattern Matching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770632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simple regex-based heuristics reliably identify vulnerable Rust code, and where do they fail?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1170432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57600"/>
            <a:ext cx="82296" cy="1170432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977640"/>
            <a:ext cx="640080" cy="384048"/>
          </a:xfrm>
          <a:prstGeom prst="roundRect">
            <a:avLst>
              <a:gd name="adj" fmla="val 14286"/>
            </a:avLst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77640"/>
            <a:ext cx="640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3749040"/>
            <a:ext cx="72237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vs. Traditional Approaches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4096512"/>
            <a:ext cx="72237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fine-tuned CodeBERT classifier compare to Clippy and heuristics in precision, recall, and F1-score on a balanced dataset?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Detection Approaches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67512"/>
            <a:ext cx="320040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2743200" cy="1828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685800"/>
            <a:ext cx="530352" cy="53035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6858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" y="114300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9768" y="15087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Linter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847088"/>
            <a:ext cx="2194560" cy="2743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965960"/>
            <a:ext cx="242316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Rust lint tool (700+ lints)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unsafe blocks, unwrap(), casting issues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Binary: ≥1 warning → vulnerable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recall, high false-positive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68680"/>
            <a:ext cx="2743200" cy="182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685800"/>
            <a:ext cx="530352" cy="53035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6858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55848" y="114300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Heuristic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55848" y="15087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1847088"/>
            <a:ext cx="2194560" cy="2743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965960"/>
            <a:ext cx="242316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regex analyzer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unsafe, transmute, forget, raw ptr deref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Mutex::lock().unwrap() patterns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&amp; interpretable — but brittle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868680"/>
            <a:ext cx="27432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868680"/>
            <a:ext cx="2743200" cy="18288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69480" y="685800"/>
            <a:ext cx="530352" cy="530352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68580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81928" y="1143000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81928" y="1508760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1847088"/>
            <a:ext cx="2194560" cy="2743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1965960"/>
            <a:ext cx="2423160" cy="2834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microsoft/codebert-base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 max, [CLS] classification head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AdamW, lr=2×10⁻⁵, 10 epochs, batch=16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semantic vulnerability patterns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37160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201168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2011680" cy="73152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1,074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14600" y="960120"/>
            <a:ext cx="201168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960120"/>
            <a:ext cx="201168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078992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14600" y="17190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201168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960120"/>
            <a:ext cx="201168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078992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537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09160" y="17190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Non-Vulnerable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960120"/>
            <a:ext cx="2011680" cy="137160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03720" y="960120"/>
            <a:ext cx="201168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078992"/>
            <a:ext cx="2011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03720" y="1719072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4160520" cy="233172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3347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Sources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384048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CVEs tagged Rust — MITRE NVD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RustSec Advisory Database (PoC code)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Security-fix commits in open-source crates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Syeda's dataset (Dec 2025 version)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514600"/>
            <a:ext cx="4160520" cy="233172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633472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Non-Vulnerable Sources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3017520"/>
            <a:ext cx="3840480" cy="1691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Highly-starred Rust crates on crates.io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or resolved security advisories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/ 10 / 10 train/val/test split (stratified)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dataset: all 1,074 files evaluated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10-File Test Set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649224"/>
            <a:ext cx="320040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97880" y="804672"/>
            <a:ext cx="29260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914400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371600"/>
            <a:ext cx="64008" cy="9601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389888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080760" y="1673352"/>
          <a:ext cx="2560320" cy="594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3A"/>
                          </a:solidFill>
                        </a:rPr>
                        <a:t>TP=5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03030"/>
                          </a:solidFill>
                        </a:rPr>
                        <a:t>FP=5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FN=0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3A"/>
                          </a:solidFill>
                        </a:rPr>
                        <a:t>TN=0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943600" y="2542032"/>
            <a:ext cx="6400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080760" y="256032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/>
        </p:nvGraphicFramePr>
        <p:xfrm>
          <a:off x="6080760" y="2843784"/>
          <a:ext cx="2560320" cy="594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3A"/>
                          </a:solidFill>
                        </a:rPr>
                        <a:t>TP=1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03030"/>
                          </a:solidFill>
                        </a:rPr>
                        <a:t>FP=1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B03030"/>
                          </a:solidFill>
                        </a:rPr>
                        <a:t>FN=4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3A"/>
                          </a:solidFill>
                        </a:rPr>
                        <a:t>TN=4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5943600" y="3712464"/>
            <a:ext cx="64008" cy="9601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080760" y="373075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</a:t>
            </a:r>
            <a:endParaRPr lang="en-US" sz="11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/>
        </p:nvGraphicFramePr>
        <p:xfrm>
          <a:off x="6080760" y="4014216"/>
          <a:ext cx="2560320" cy="59436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3A"/>
                          </a:solidFill>
                        </a:rPr>
                        <a:t>TP=5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FP=0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55555"/>
                          </a:solidFill>
                        </a:rPr>
                        <a:t>FN=0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A6B3A"/>
                          </a:solidFill>
                        </a:rPr>
                        <a:t>TN=5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412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Full Dataset — 1,074 Files (All Three Methods)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649224"/>
            <a:ext cx="512064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20040" y="77724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04672"/>
            <a:ext cx="2880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804672"/>
            <a:ext cx="64008" cy="13258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87782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 (Linter)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080760" y="1188720"/>
          <a:ext cx="2606040" cy="493776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TP=537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FP=537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TN=0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FN=0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80760" y="176479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0.667</a:t>
            </a: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Flags every file as vulnerable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943600" y="2267712"/>
            <a:ext cx="2880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943600" y="2267712"/>
            <a:ext cx="64008" cy="13258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80760" y="234086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Heuristic</a:t>
            </a:r>
            <a:endParaRPr lang="en-US" sz="12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6080760" y="2651760"/>
          <a:ext cx="2606040" cy="493776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TP=125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FP=125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TN=412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FN=412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080760" y="322783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0.318</a:t>
            </a: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Misses 77% of true vulnerabilities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0" y="3730752"/>
            <a:ext cx="2880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943600" y="3730752"/>
            <a:ext cx="64008" cy="132588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3" name="Text 12"/>
          <p:cNvSpPr/>
          <p:nvPr/>
        </p:nvSpPr>
        <p:spPr>
          <a:xfrm>
            <a:off x="6080760" y="3803904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ML</a:t>
            </a:r>
            <a:endParaRPr lang="en-US" sz="12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/>
        </p:nvGraphicFramePr>
        <p:xfrm>
          <a:off x="6080760" y="4114800"/>
          <a:ext cx="2606040" cy="493776"/>
        </p:xfrm>
        <a:graphic>
          <a:graphicData uri="http://schemas.openxmlformats.org/drawingml/2006/table">
            <a:tbl>
              <a:tblPr/>
              <a:tblGrid>
                <a:gridCol w="1303020"/>
                <a:gridCol w="1303020"/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TP=537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FP=0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TN=537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535"/>
                          </a:solidFill>
                        </a:rPr>
                        <a:t>FN=0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C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080760" y="46908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1.000 ✓</a:t>
            </a: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Perfect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Discussion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256032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206240" cy="1783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82296" cy="17830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Clippy: High Recall, Zero Precision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1,074 files: TP=537, FP=537, TN=0, FN=0. Flags every single file as vulnerable. Perfect recall but precision=0.5 (random chance). Not viable as a standalone security scanner.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4206240" cy="1783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2926080"/>
            <a:ext cx="82296" cy="1783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3580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Brittle Pattern Matching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8404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drops to 0.23 on 1,074 files (TP=125, FN=412). Most vulnerabilities — race conditions, semantic overflows — are invisible to regex rules. Coverage bounded by rule expressiveness.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206240" cy="1783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960120"/>
            <a:ext cx="82296" cy="178308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6984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CodeBERT: Perfect Classification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8404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F1=1.000 on both test set and full 1,074-file dataset (TP=537, FP=0, TN=537, FN=0). Semantic representations learned during fine-tuning are highly discriminative for this dataset.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206240" cy="178308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926080"/>
            <a:ext cx="82296" cy="1783080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035808"/>
            <a:ext cx="3840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Dataset-Level Consideration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8404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CodeBERT scores raise questions about dataset-level pattern leakage. Future work: evaluate on temporally-separated, out-of-distribution CVE test sets for true generalization.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828032"/>
            <a:ext cx="8503920" cy="155448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2926080" cy="457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4023360" cy="393192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64008" cy="50292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08760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achieves F1=1.000 on 1,074-file balanced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64008" cy="5029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58568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Clippy: perfect recall (1.0) but unusable 50% 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35808"/>
            <a:ext cx="64008" cy="5029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008376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F1=0.318 — regex rules miss semantic vulns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85616"/>
            <a:ext cx="6400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758184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transfer learning is highly effective for Rust vulnerability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4206240" cy="3931920"/>
          </a:xfrm>
          <a:prstGeom prst="rect">
            <a:avLst/>
          </a:prstGeom>
          <a:solidFill>
            <a:srgbClr val="1B2A3B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0515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09160" y="1554480"/>
            <a:ext cx="347472" cy="347472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55448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1545336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temporally-separated CVE test sets to measure true generalization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347472" cy="347472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3774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66360" y="2368296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Clippy + CodeBERT: use linter for high-recall pre-filtering, ML for precision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3200400"/>
            <a:ext cx="347472" cy="347472"/>
          </a:xfrm>
          <a:prstGeom prst="ellipse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2004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3191256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inter-procedural and cross-crate vulnerability patterns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4014216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E05C1A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26974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2A3B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6148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318211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0.667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26974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2A3B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76148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49040" y="318211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0.318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669280" y="26974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1B2A3B"/>
          </a:solidFill>
          <a:ln w="12700">
            <a:solidFill>
              <a:srgbClr val="E05C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761488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5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3182112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 1.000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4402</Words>
  <Application>WPS Presentation</Application>
  <PresentationFormat>On-screen Show (16:9)</PresentationFormat>
  <Paragraphs>309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Courier New</vt:lpstr>
      <vt:lpstr>Courier New</vt:lpstr>
      <vt:lpstr>Courier New</vt:lpstr>
      <vt:lpstr>Arial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Detecting Vulnerabilities in Concurrent Rust Programs</dc:title>
  <dc:creator>PptxGenJS</dc:creator>
  <dc:subject>PptxGenJS Presentation</dc:subject>
  <cp:lastModifiedBy>WPS_1694358381</cp:lastModifiedBy>
  <cp:revision>3</cp:revision>
  <dcterms:created xsi:type="dcterms:W3CDTF">2026-04-22T22:09:20Z</dcterms:created>
  <dcterms:modified xsi:type="dcterms:W3CDTF">2026-04-22T22:09:20Z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5EEA5E773B48C6E0293DE9699796E655_42</vt:lpwstr>
  </property>
  <property fmtid="{D5CDD505-2E9C-101B-9397-08002B2CF9AE}" pid="3" name="KSOProductBuildVer">
    <vt:lpwstr>1033-12.1.23155.23155</vt:lpwstr>
  </property>
</Properties>
</file>